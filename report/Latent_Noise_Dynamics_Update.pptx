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230C932-F857-4369-8F85-43727234341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2B4645-9A58-47E3-89D6-8DD6DEB1D3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C908F1-AE2F-407F-B299-54B9075D03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E5AC5-950C-4FEA-8020-D59BDBF450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0D59CC-C3E2-441C-8B22-EDF6C79A21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A08FD5-4E6A-4665-985E-7F60D7BA66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87F625-6E80-4A8B-A69F-15526D64C2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14C54-D3D5-43C7-9C66-7D80B6CD77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5B3369-515A-4DEA-B185-FDD381C098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BF45B5-FBC4-4EA9-BA69-5793231515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42DAB-F764-4896-A3A7-23B31CCBA9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664C2B-9D1F-416B-A798-23EA5C39D0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BD7A0-3820-4787-A2D0-23B14C11FE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376297-BFAD-4998-AABA-95D2937175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714593-9166-4DAB-9256-29F5187D99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412480" y="-1463040"/>
            <a:ext cx="6217560" cy="621756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3e6e8c">
                <a:alpha val="3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509760" y="-182880"/>
            <a:ext cx="4937400" cy="4937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e6e8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424160" y="1280160"/>
            <a:ext cx="3840120" cy="384012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3e6e8c">
                <a:alpha val="4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1064240" y="2743200"/>
            <a:ext cx="2834280" cy="2834280"/>
          </a:xfrm>
          <a:prstGeom prst="ellipse">
            <a:avLst/>
          </a:prstGeom>
          <a:solidFill>
            <a:srgbClr val="1c7293">
              <a:alpha val="38000"/>
            </a:srgbClr>
          </a:solidFill>
          <a:ln w="12700">
            <a:solidFill>
              <a:srgbClr val="3e6e8c">
                <a:alpha val="5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1920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8fc7de"/>
                </a:solidFill>
                <a:latin typeface="Calibri"/>
                <a:ea typeface="Calibri"/>
              </a:rPr>
              <a:t>THESIS INVESTIGATION UPDATE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21720" y="2286000"/>
            <a:ext cx="84121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Latent Noise Dynamics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in the CEWF Framework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416052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cfe6f0"/>
                </a:solidFill>
                <a:latin typeface="Calibri"/>
                <a:ea typeface="Calibri"/>
              </a:rPr>
              <a:t>Marginal and temporal correlation analysis of the inverted latent-space noise εₜ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40080" y="4892040"/>
            <a:ext cx="1462680" cy="270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40080" y="5989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fc9d8"/>
                </a:solidFill>
                <a:latin typeface="Calibri"/>
                <a:ea typeface="Calibri"/>
              </a:rPr>
              <a:t>Trace  ·  Linköping University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BASELINE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Forecasting Performance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Image 0" descr="/mnt/user-data/uploads/image.png"/>
          <p:cNvPicPr/>
          <p:nvPr/>
        </p:nvPicPr>
        <p:blipFill>
          <a:blip r:embed="rId1"/>
          <a:stretch/>
        </p:blipFill>
        <p:spPr>
          <a:xfrm>
            <a:off x="792360" y="1417320"/>
            <a:ext cx="10606680" cy="3017880"/>
          </a:xfrm>
          <a:prstGeom prst="rect">
            <a:avLst/>
          </a:prstGeom>
          <a:ln w="0">
            <a:noFill/>
          </a:ln>
        </p:spPr>
      </p:pic>
      <p:sp>
        <p:nvSpPr>
          <p:cNvPr id="20" name="Shape 2"/>
          <p:cNvSpPr/>
          <p:nvPr/>
        </p:nvSpPr>
        <p:spPr>
          <a:xfrm>
            <a:off x="914400" y="4664160"/>
            <a:ext cx="10362600" cy="77688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234440" y="4664160"/>
            <a:ext cx="972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SSR sits near ideal at short lead, drifts below 1 through the mid-range, and jumps slightly at 48h / 72h — the AR-rollout boundaries.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INVESTIGATION PLAN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Three Guiding Questions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765000" y="1554480"/>
            <a:ext cx="3382920" cy="2377080"/>
          </a:xfrm>
          <a:prstGeom prst="roundRect">
            <a:avLst>
              <a:gd name="adj" fmla="val 3077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2081520" y="1728360"/>
            <a:ext cx="749520" cy="749520"/>
          </a:xfrm>
          <a:prstGeom prst="ellipse">
            <a:avLst/>
          </a:prstGeom>
          <a:solidFill>
            <a:srgbClr val="5b6b8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2081520" y="172836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020960" y="2606040"/>
            <a:ext cx="2871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Is the forecast trajectory physically meaningful?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4404240" y="1554480"/>
            <a:ext cx="3382920" cy="2377080"/>
          </a:xfrm>
          <a:prstGeom prst="roundRect">
            <a:avLst>
              <a:gd name="adj" fmla="val 3077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5721120" y="1728360"/>
            <a:ext cx="749520" cy="7495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5721120" y="172836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660200" y="2606040"/>
            <a:ext cx="2871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What dynamics does the inverted trajectory imply?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8043480" y="1554480"/>
            <a:ext cx="3382920" cy="2377080"/>
          </a:xfrm>
          <a:prstGeom prst="roundRect">
            <a:avLst>
              <a:gd name="adj" fmla="val 3077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9360360" y="1728360"/>
            <a:ext cx="749520" cy="7495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9360360" y="172836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8299440" y="2606040"/>
            <a:ext cx="2871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Can we design a method to learn that dynamics?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914400" y="4206240"/>
            <a:ext cx="10362600" cy="77688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1234440" y="4206240"/>
            <a:ext cx="972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Priority: Q2 and Q3 first — Q1 becomes supplementary evidence, examined once the noise dynamics are understood.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RATIONALE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Why Q2 and Q3 Come First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883800" y="146304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1158120" y="16459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PROPERTY 1 — MARGINAL PRESERVATION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1158120" y="1993320"/>
            <a:ext cx="4525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Stochastic interpolants train between samples from N(0, I) and the physical data — so the latent-space noise must preserve N(0, I) marginally.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6233040" y="146304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6507360" y="16459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PROPERTY 2 — DETERMINISTIC 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6507360" y="1993320"/>
            <a:ext cx="4525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The velocity is the function driving an ODE — so the sampling process is fully reversible and deterministic.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5913000" y="3410640"/>
            <a:ext cx="365400" cy="292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914400" y="3794760"/>
            <a:ext cx="10362600" cy="95976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1234440" y="3794760"/>
            <a:ext cx="97225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If the marginal distribution breaks, forecasts lose physical meaning — understanding the noise dynamics (Q2, Q3) matters more than testing Q1 directly.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THEORY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Learning the Noise Process — Key Relations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0" y="1371600"/>
            <a:ext cx="1219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COVARIANCE 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Image 0" descr="/home/claude/eqs/eq_cov.png"/>
          <p:cNvPicPr/>
          <p:nvPr/>
        </p:nvPicPr>
        <p:blipFill>
          <a:blip r:embed="rId1"/>
          <a:stretch/>
        </p:blipFill>
        <p:spPr>
          <a:xfrm>
            <a:off x="3261240" y="1682640"/>
            <a:ext cx="5668920" cy="1164600"/>
          </a:xfrm>
          <a:prstGeom prst="rect">
            <a:avLst/>
          </a:prstGeom>
          <a:ln w="0">
            <a:noFill/>
          </a:ln>
        </p:spPr>
      </p:pic>
      <p:sp>
        <p:nvSpPr>
          <p:cNvPr id="59" name="Text 3"/>
          <p:cNvSpPr/>
          <p:nvPr/>
        </p:nvSpPr>
        <p:spPr>
          <a:xfrm>
            <a:off x="0" y="3121920"/>
            <a:ext cx="1219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CONDITIONAL MEAN ESTIMATOR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1" descr="/home/claude/eqs/eq_estimator.png"/>
          <p:cNvPicPr/>
          <p:nvPr/>
        </p:nvPicPr>
        <p:blipFill>
          <a:blip r:embed="rId2"/>
          <a:stretch/>
        </p:blipFill>
        <p:spPr>
          <a:xfrm>
            <a:off x="3398400" y="3432960"/>
            <a:ext cx="5394600" cy="1105920"/>
          </a:xfrm>
          <a:prstGeom prst="rect">
            <a:avLst/>
          </a:prstGeom>
          <a:ln w="0">
            <a:noFill/>
          </a:ln>
        </p:spPr>
      </p:pic>
      <p:sp>
        <p:nvSpPr>
          <p:cNvPr id="61" name="Text 4"/>
          <p:cNvSpPr/>
          <p:nvPr/>
        </p:nvSpPr>
        <p:spPr>
          <a:xfrm>
            <a:off x="0" y="4813560"/>
            <a:ext cx="1219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TRAINING LOSS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Image 2" descr="/home/claude/eqs/eq_loss.png"/>
          <p:cNvPicPr/>
          <p:nvPr/>
        </p:nvPicPr>
        <p:blipFill>
          <a:blip r:embed="rId3"/>
          <a:stretch/>
        </p:blipFill>
        <p:spPr>
          <a:xfrm>
            <a:off x="2758320" y="5124600"/>
            <a:ext cx="6674760" cy="890280"/>
          </a:xfrm>
          <a:prstGeom prst="rect">
            <a:avLst/>
          </a:prstGeom>
          <a:ln w="0">
            <a:noFill/>
          </a:ln>
        </p:spPr>
      </p:pic>
      <p:sp>
        <p:nvSpPr>
          <p:cNvPr id="63" name="Text 5"/>
          <p:cNvSpPr/>
          <p:nvPr/>
        </p:nvSpPr>
        <p:spPr>
          <a:xfrm>
            <a:off x="548640" y="6307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6b84"/>
                </a:solidFill>
                <a:latin typeface="Calibri"/>
                <a:ea typeface="Calibri"/>
              </a:rPr>
              <a:t>Assumption: εₜ ~ 𝒩(0, I) marginally ⇒ each coordinate of εₜ evolves independently.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EXPERIMENT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Marginal Check — Method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883800" y="1554480"/>
            <a:ext cx="5074560" cy="2285640"/>
          </a:xfrm>
          <a:prstGeom prst="roundRect">
            <a:avLst>
              <a:gd name="adj" fmla="val 3200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1158120" y="17830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1158120" y="1783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1981080" y="182880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1295c"/>
                </a:solidFill>
                <a:latin typeface="Cambria"/>
                <a:ea typeface="Cambria"/>
              </a:rPr>
              <a:t>Moments &amp; Kurtosis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1203840" y="2606040"/>
            <a:ext cx="4434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Test whether the marginal of εₜ matches N(0,1) per lead time — mean, std, skewness, excess kurtosis.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6233040" y="1554480"/>
            <a:ext cx="5074560" cy="2285640"/>
          </a:xfrm>
          <a:prstGeom prst="roundRect">
            <a:avLst>
              <a:gd name="adj" fmla="val 3200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6507360" y="17830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507360" y="1783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7330320" y="182880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1295c"/>
                </a:solidFill>
                <a:latin typeface="Cambria"/>
                <a:ea typeface="Cambria"/>
              </a:rPr>
              <a:t>Spatial Power Spectrum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6553080" y="2606040"/>
            <a:ext cx="4434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Check flatness of the radial power spectrum — white noise ⇒ flat spectrum ⇒ coordinates evolve independently.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914400" y="4114800"/>
            <a:ext cx="10362600" cy="77688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1234440" y="4114800"/>
            <a:ext cx="972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Preprocessing: inverted latents pooled across trajectories, analyzed separately per lead τ — different τ means a different mapping.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EXPERIMENT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Marginal Check — Results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/mnt/user-data/uploads/image_1.png"/>
          <p:cNvPicPr/>
          <p:nvPr/>
        </p:nvPicPr>
        <p:blipFill>
          <a:blip r:embed="rId1"/>
          <a:stretch/>
        </p:blipFill>
        <p:spPr>
          <a:xfrm>
            <a:off x="2087640" y="1417320"/>
            <a:ext cx="4115160" cy="2331360"/>
          </a:xfrm>
          <a:prstGeom prst="rect">
            <a:avLst/>
          </a:prstGeom>
          <a:ln w="0">
            <a:noFill/>
          </a:ln>
        </p:spPr>
      </p:pic>
      <p:pic>
        <p:nvPicPr>
          <p:cNvPr id="85" name="Image 1" descr="/mnt/user-data/uploads/image_3.png"/>
          <p:cNvPicPr/>
          <p:nvPr/>
        </p:nvPicPr>
        <p:blipFill>
          <a:blip r:embed="rId2"/>
          <a:stretch/>
        </p:blipFill>
        <p:spPr>
          <a:xfrm>
            <a:off x="6568920" y="1417320"/>
            <a:ext cx="3534840" cy="2331360"/>
          </a:xfrm>
          <a:prstGeom prst="rect">
            <a:avLst/>
          </a:prstGeom>
          <a:ln w="0">
            <a:noFill/>
          </a:ln>
        </p:spPr>
      </p:pic>
      <p:pic>
        <p:nvPicPr>
          <p:cNvPr id="86" name="Image 2" descr="/mnt/user-data/uploads/image_2.png"/>
          <p:cNvPicPr/>
          <p:nvPr/>
        </p:nvPicPr>
        <p:blipFill>
          <a:blip r:embed="rId3"/>
          <a:stretch/>
        </p:blipFill>
        <p:spPr>
          <a:xfrm>
            <a:off x="3413880" y="3931920"/>
            <a:ext cx="5363280" cy="1691280"/>
          </a:xfrm>
          <a:prstGeom prst="rect">
            <a:avLst/>
          </a:prstGeom>
          <a:ln w="0">
            <a:noFill/>
          </a:ln>
        </p:spPr>
      </p:pic>
      <p:sp>
        <p:nvSpPr>
          <p:cNvPr id="87" name="Shape 2"/>
          <p:cNvSpPr/>
          <p:nvPr/>
        </p:nvSpPr>
        <p:spPr>
          <a:xfrm>
            <a:off x="914400" y="5760720"/>
            <a:ext cx="10362600" cy="68544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1234440" y="5760720"/>
            <a:ext cx="9722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εₜ ~ N(0, Σ), not N(0, I) — but each εₜ is spatially stationary.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EXPERIMENT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Empirical Temporal Correlation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0" descr="/home/claude/eqs/eq_rhohat.png"/>
          <p:cNvPicPr/>
          <p:nvPr/>
        </p:nvPicPr>
        <p:blipFill>
          <a:blip r:embed="rId1"/>
          <a:stretch/>
        </p:blipFill>
        <p:spPr>
          <a:xfrm>
            <a:off x="2163960" y="1417320"/>
            <a:ext cx="7863480" cy="970200"/>
          </a:xfrm>
          <a:prstGeom prst="rect">
            <a:avLst/>
          </a:prstGeom>
          <a:ln w="0">
            <a:noFill/>
          </a:ln>
        </p:spPr>
      </p:pic>
      <p:sp>
        <p:nvSpPr>
          <p:cNvPr id="94" name="Text 2"/>
          <p:cNvSpPr/>
          <p:nvPr/>
        </p:nvSpPr>
        <p:spPr>
          <a:xfrm>
            <a:off x="731520" y="252504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6b84"/>
                </a:solidFill>
                <a:latin typeface="Calibri"/>
                <a:ea typeface="Calibri"/>
              </a:rPr>
              <a:t>Computed under the N(0, I) assumption — the decay pattern is visible, but a rigorous fit must account for Σ.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765000" y="3165120"/>
            <a:ext cx="3382920" cy="159984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984240" y="333864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984240" y="33386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1679400" y="336636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Stationarity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1039320" y="403380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3550"/>
                </a:solidFill>
                <a:latin typeface="Calibri"/>
                <a:ea typeface="Calibri"/>
              </a:rPr>
              <a:t>Does ρ̂ depend only on |t − t'|?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4404240" y="3165120"/>
            <a:ext cx="3382920" cy="159984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4623840" y="333864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4623840" y="33386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5318640" y="336636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Exponential decay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4678560" y="403380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3550"/>
                </a:solidFill>
                <a:latin typeface="Calibri"/>
                <a:ea typeface="Calibri"/>
              </a:rPr>
              <a:t>Is log ρ̂ linear in Δ (OU process)?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8043480" y="3165120"/>
            <a:ext cx="3382920" cy="1599840"/>
          </a:xfrm>
          <a:prstGeom prst="roundRect">
            <a:avLst>
              <a:gd name="adj" fmla="val 457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8263080" y="333864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8263080" y="33386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8957880" y="336636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1295c"/>
                </a:solidFill>
                <a:latin typeface="Cambria"/>
                <a:ea typeface="Cambria"/>
              </a:rPr>
              <a:t>x₀-dependence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8317800" y="403380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3550"/>
                </a:solidFill>
                <a:latin typeface="Calibri"/>
                <a:ea typeface="Calibri"/>
              </a:rPr>
              <a:t>Does ρ̂ vary with the anchor state?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EXPERIMENT 2A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Stationarity Check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Image 0" descr="/mnt/user-data/uploads/image_4.png"/>
          <p:cNvPicPr/>
          <p:nvPr/>
        </p:nvPicPr>
        <p:blipFill>
          <a:blip r:embed="rId1"/>
          <a:stretch/>
        </p:blipFill>
        <p:spPr>
          <a:xfrm>
            <a:off x="1325160" y="1508760"/>
            <a:ext cx="9541080" cy="3474360"/>
          </a:xfrm>
          <a:prstGeom prst="rect">
            <a:avLst/>
          </a:prstGeom>
          <a:ln w="0">
            <a:noFill/>
          </a:ln>
        </p:spPr>
      </p:pic>
      <p:sp>
        <p:nvSpPr>
          <p:cNvPr id="115" name="Shape 2"/>
          <p:cNvSpPr/>
          <p:nvPr/>
        </p:nvSpPr>
        <p:spPr>
          <a:xfrm>
            <a:off x="914400" y="5166360"/>
            <a:ext cx="10362600" cy="77688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1234440" y="5166360"/>
            <a:ext cx="972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ρ̂ depends only on the lag |t − t'| — a single function of Δ suffices to describe the correlation.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EXPERIMENT 2B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Exponential Decay Test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0" descr="/home/claude/eqs/eq_ou.png"/>
          <p:cNvPicPr/>
          <p:nvPr/>
        </p:nvPicPr>
        <p:blipFill>
          <a:blip r:embed="rId1"/>
          <a:stretch/>
        </p:blipFill>
        <p:spPr>
          <a:xfrm>
            <a:off x="914400" y="1417320"/>
            <a:ext cx="2377080" cy="812520"/>
          </a:xfrm>
          <a:prstGeom prst="rect">
            <a:avLst/>
          </a:prstGeom>
          <a:ln w="0">
            <a:noFill/>
          </a:ln>
        </p:spPr>
      </p:pic>
      <p:sp>
        <p:nvSpPr>
          <p:cNvPr id="122" name="Text 2"/>
          <p:cNvSpPr/>
          <p:nvPr/>
        </p:nvSpPr>
        <p:spPr>
          <a:xfrm>
            <a:off x="3611880" y="1417320"/>
            <a:ext cx="7680600" cy="9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b3550"/>
                </a:solidFill>
                <a:latin typeface="Calibri"/>
                <a:ea typeface="Calibri"/>
              </a:rPr>
              <a:t>OU process predicts this decay — equivalently, log ρ̂ should be linear in Δ (one semi-log plot tests it).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1" descr="/mnt/user-data/uploads/image_5.png"/>
          <p:cNvPicPr/>
          <p:nvPr/>
        </p:nvPicPr>
        <p:blipFill>
          <a:blip r:embed="rId2"/>
          <a:stretch/>
        </p:blipFill>
        <p:spPr>
          <a:xfrm>
            <a:off x="3431160" y="2550240"/>
            <a:ext cx="5329440" cy="3657240"/>
          </a:xfrm>
          <a:prstGeom prst="rect">
            <a:avLst/>
          </a:prstGeom>
          <a:ln w="0">
            <a:noFill/>
          </a:ln>
        </p:spPr>
      </p:pic>
      <p:sp>
        <p:nvSpPr>
          <p:cNvPr id="124" name="Shape 3"/>
          <p:cNvSpPr/>
          <p:nvPr/>
        </p:nvSpPr>
        <p:spPr>
          <a:xfrm>
            <a:off x="914400" y="6345000"/>
            <a:ext cx="10362600" cy="68544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1234440" y="6345000"/>
            <a:ext cx="9722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Decay is neither cleanly exponential (R²=0.77) nor squared-exponential (R²=0.59) — a neural network is needed to fit α(t).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EXPERIMENT 2C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Dependence on Anchor Enstrophy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0" descr="/mnt/user-data/uploads/image_6.png"/>
          <p:cNvPicPr/>
          <p:nvPr/>
        </p:nvPicPr>
        <p:blipFill>
          <a:blip r:embed="rId1"/>
          <a:stretch/>
        </p:blipFill>
        <p:spPr>
          <a:xfrm>
            <a:off x="3335760" y="1508760"/>
            <a:ext cx="5519880" cy="3657240"/>
          </a:xfrm>
          <a:prstGeom prst="rect">
            <a:avLst/>
          </a:prstGeom>
          <a:ln w="0">
            <a:noFill/>
          </a:ln>
        </p:spPr>
      </p:pic>
      <p:sp>
        <p:nvSpPr>
          <p:cNvPr id="131" name="Shape 2"/>
          <p:cNvSpPr/>
          <p:nvPr/>
        </p:nvSpPr>
        <p:spPr>
          <a:xfrm>
            <a:off x="914400" y="5349240"/>
            <a:ext cx="10362600" cy="77688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1234440" y="5349240"/>
            <a:ext cx="9722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ρ̂(Δ) is independent of anchor enstrophy — a scalar α(t) suffices; no x₀-conditioning is needed.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SUMMARY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What We Learned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883800" y="1691640"/>
            <a:ext cx="5074560" cy="3291480"/>
          </a:xfrm>
          <a:prstGeom prst="roundRect">
            <a:avLst>
              <a:gd name="adj" fmla="val 2222"/>
            </a:avLst>
          </a:prstGeom>
          <a:solidFill>
            <a:srgbClr val="e4f0e9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1158120" y="1920240"/>
            <a:ext cx="639720" cy="639720"/>
          </a:xfrm>
          <a:prstGeom prst="ellipse">
            <a:avLst/>
          </a:prstGeom>
          <a:solidFill>
            <a:srgbClr val="3e8e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158120" y="19202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✓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2026800" y="1984320"/>
            <a:ext cx="370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21295c"/>
                </a:solidFill>
                <a:latin typeface="Cambria"/>
                <a:ea typeface="Cambria"/>
              </a:rPr>
              <a:t>Good News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203840" y="2834640"/>
            <a:ext cx="44344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b3550"/>
                </a:solidFill>
                <a:latin typeface="Calibri"/>
                <a:ea typeface="Calibri"/>
              </a:rPr>
              <a:t>The temporal correlation is stationary and independent of x₀ — the estimator reduces to a single scalar function α(t).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6233040" y="1691640"/>
            <a:ext cx="5074560" cy="3291480"/>
          </a:xfrm>
          <a:prstGeom prst="roundRect">
            <a:avLst>
              <a:gd name="adj" fmla="val 2222"/>
            </a:avLst>
          </a:prstGeom>
          <a:solidFill>
            <a:srgbClr val="f5e9e3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6507360" y="1920240"/>
            <a:ext cx="639720" cy="63972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6507360" y="19202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7376040" y="1984320"/>
            <a:ext cx="370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21295c"/>
                </a:solidFill>
                <a:latin typeface="Cambria"/>
                <a:ea typeface="Cambria"/>
              </a:rPr>
              <a:t>Open Challenge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6553080" y="2834640"/>
            <a:ext cx="44344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b3550"/>
                </a:solidFill>
                <a:latin typeface="Calibri"/>
                <a:ea typeface="Calibri"/>
              </a:rPr>
              <a:t>The decay is neither exponential nor squared-exponential — fitting α(t) will require a neural network rather than a closed form.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12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OPEN PROBLEM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Does Spatial Correlation Break the Estimator?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Image 0" descr="/home/claude/eqs/eq_notation.png"/>
          <p:cNvPicPr/>
          <p:nvPr/>
        </p:nvPicPr>
        <p:blipFill>
          <a:blip r:embed="rId1"/>
          <a:stretch/>
        </p:blipFill>
        <p:spPr>
          <a:xfrm>
            <a:off x="2621160" y="1463040"/>
            <a:ext cx="6949080" cy="815760"/>
          </a:xfrm>
          <a:prstGeom prst="rect">
            <a:avLst/>
          </a:prstGeom>
          <a:ln w="0">
            <a:noFill/>
          </a:ln>
        </p:spPr>
      </p:pic>
      <p:sp>
        <p:nvSpPr>
          <p:cNvPr id="152" name="Shape 2"/>
          <p:cNvSpPr/>
          <p:nvPr/>
        </p:nvSpPr>
        <p:spPr>
          <a:xfrm>
            <a:off x="883800" y="2599200"/>
            <a:ext cx="5074560" cy="2651400"/>
          </a:xfrm>
          <a:prstGeom prst="roundRect">
            <a:avLst>
              <a:gd name="adj" fmla="val 2759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1158120" y="278208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CONDITION 1 — SEPARABLE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Image 1" descr="/home/claude/eqs/eq_sep.png"/>
          <p:cNvPicPr/>
          <p:nvPr/>
        </p:nvPicPr>
        <p:blipFill>
          <a:blip r:embed="rId2"/>
          <a:stretch/>
        </p:blipFill>
        <p:spPr>
          <a:xfrm>
            <a:off x="2232360" y="3147840"/>
            <a:ext cx="2377080" cy="713880"/>
          </a:xfrm>
          <a:prstGeom prst="rect">
            <a:avLst/>
          </a:prstGeom>
          <a:ln w="0">
            <a:noFill/>
          </a:ln>
        </p:spPr>
      </p:pic>
      <p:sp>
        <p:nvSpPr>
          <p:cNvPr id="155" name="Text 4"/>
          <p:cNvSpPr/>
          <p:nvPr/>
        </p:nvSpPr>
        <p:spPr>
          <a:xfrm>
            <a:off x="1203840" y="3999240"/>
            <a:ext cx="4434480" cy="11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b3550"/>
                </a:solidFill>
                <a:latin typeface="Calibri"/>
                <a:ea typeface="Calibri"/>
              </a:rPr>
              <a:t>Temporal and spatial factors decouple — a single scalar α(t) suffices.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6233040" y="2599200"/>
            <a:ext cx="5074560" cy="2651400"/>
          </a:xfrm>
          <a:prstGeom prst="roundRect">
            <a:avLst>
              <a:gd name="adj" fmla="val 2759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6507360" y="278208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1c7293"/>
                </a:solidFill>
                <a:latin typeface="Calibri"/>
                <a:ea typeface="Calibri"/>
              </a:rPr>
              <a:t>CONDITION 2 — NON-SEPARABLE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553080" y="3605040"/>
            <a:ext cx="4434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b3550"/>
                </a:solidFill>
                <a:latin typeface="Calibri"/>
                <a:ea typeface="Calibri"/>
              </a:rPr>
              <a:t>A single α(t) is inadequate — we need a spatially weighted α(t), e.g. one value per Fourier mode.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8640" y="36576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NEXT STEPS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530280" y="603360"/>
            <a:ext cx="1115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21295c"/>
                </a:solidFill>
                <a:latin typeface="Cambria"/>
                <a:ea typeface="Cambria"/>
              </a:rPr>
              <a:t>Further Investigation Plan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883800" y="164592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1089360" y="2286000"/>
            <a:ext cx="685440" cy="685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1089360" y="22860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1935360" y="1828800"/>
            <a:ext cx="3794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Examine whether the spatial correlation Σ is stationary (present evidence is visual only).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6233040" y="164592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7"/>
          <p:cNvSpPr/>
          <p:nvPr/>
        </p:nvSpPr>
        <p:spPr>
          <a:xfrm>
            <a:off x="6438600" y="2286000"/>
            <a:ext cx="685440" cy="685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6438600" y="22860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7284600" y="1828800"/>
            <a:ext cx="3794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Examine whether the space–time structure is separable: C(t) = α(t)Σ.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883800" y="388620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1089360" y="4526280"/>
            <a:ext cx="685440" cy="685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1089360" y="452628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1935360" y="4069080"/>
            <a:ext cx="3794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If not: eigendecompose Σ on a 2D Fourier basis and infer an estimator with spatial weights.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6233040" y="388620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eaf3f7"/>
          </a:solidFill>
          <a:ln w="9525">
            <a:solidFill>
              <a:srgbClr val="d7e4ec"/>
            </a:solidFill>
            <a:round/>
          </a:ln>
          <a:effectLst>
            <a:outerShdw algn="bl" blurRad="88920" dir="5400000" dist="25560" kx="0" ky="0" rotWithShape="0" sx="100000" sy="100000">
              <a:srgbClr val="1f2937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6438600" y="4526280"/>
            <a:ext cx="685440" cy="685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6438600" y="452628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7284600" y="4069080"/>
            <a:ext cx="3794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3550"/>
                </a:solidFill>
                <a:latin typeface="Calibri"/>
                <a:ea typeface="Calibri"/>
              </a:rPr>
              <a:t>Justify the estimator and perform the estimation.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548640" y="6546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Latent Noise Dynamics — Investigation Update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11521440" y="6546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84"/>
                </a:solidFill>
                <a:latin typeface="Calibri"/>
                <a:ea typeface="Calibri"/>
              </a:rPr>
              <a:t>14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2026-07-27T19:46:27Z</dcterms:created>
  <dc:creator>PptxGenJS</dc:creator>
  <dc:description/>
  <dc:language>en-US</dc:language>
  <cp:lastModifiedBy/>
  <dcterms:modified xsi:type="dcterms:W3CDTF">2026-07-27T21:50:34Z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